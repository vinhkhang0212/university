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4" r:id="rId4"/>
    <p:sldId id="265" r:id="rId5"/>
    <p:sldId id="262" r:id="rId6"/>
    <p:sldId id="271" r:id="rId7"/>
    <p:sldId id="266" r:id="rId8"/>
    <p:sldId id="274" r:id="rId9"/>
    <p:sldId id="275" r:id="rId10"/>
    <p:sldId id="267" r:id="rId11"/>
    <p:sldId id="263" r:id="rId12"/>
    <p:sldId id="276" r:id="rId13"/>
    <p:sldId id="268" r:id="rId14"/>
    <p:sldId id="272" r:id="rId15"/>
    <p:sldId id="269" r:id="rId16"/>
    <p:sldId id="270" r:id="rId1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26" autoAdjust="0"/>
    <p:restoredTop sz="94656" autoAdjust="0"/>
  </p:normalViewPr>
  <p:slideViewPr>
    <p:cSldViewPr snapToGrid="0">
      <p:cViewPr>
        <p:scale>
          <a:sx n="141" d="100"/>
          <a:sy n="141" d="100"/>
        </p:scale>
        <p:origin x="-42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D3B36-2F6D-484D-A83B-15FB5E09292A}" type="datetimeFigureOut">
              <a:rPr lang="en-US" smtClean="0"/>
              <a:t>4/8/24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4D764-1C8A-154F-8EC6-6BC4F38ED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02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9913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54aa0acb1_5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1f54aa0acb1_5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54aa0acb1_5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1f54aa0acb1_5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54aa0acb1_5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f54aa0acb1_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54aa0acb1_5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f54aa0acb1_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3822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54aa0acb1_5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f54aa0acb1_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5877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54aa0acb1_5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f54aa0acb1_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3031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f54aa0acb1_5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1f54aa0acb1_5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29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3299-1BCD-4080-BCF1-2EB0F77AE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33E5D-32B1-C6D1-6F9E-AA39E668E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B8287-CFB8-997A-40CE-E83D3303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1667E-AB6B-C7E3-3B06-8466AC947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C05BA-93B8-6EDB-513B-5B5FD963E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9655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57C28-A6FA-BC72-EAE9-85B3F1499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C498C-CD22-5B87-AD1A-F404B816F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97975-C61C-C9CD-14CC-C3465457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0EDDD-E11D-A521-8832-81B210C0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5E3EF-476E-D793-0BCF-D75E3C39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3416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64ED-497D-5801-FA27-35D168B5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B6C36-36FF-AEA8-14B7-DB3BADB52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90B6D-3370-944E-5639-E49B71973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A7A42-509C-199F-E886-913B166D8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7BD3D-9690-BF37-E4EB-309684C1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46372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B211-25A8-B809-11BE-F7F330639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92A3-D340-03BA-4276-1EC977C07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64280-FDDE-A0F9-53A8-133547F91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F63FD-8103-771F-B5AC-3480D2A8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F34B4-AA7A-2F1D-C972-02AFED828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A8CC2-AD41-52FE-9DC5-824EEA84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0436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7F37-DBD3-09E4-77C3-6D0972812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97AD0-04FE-35AF-1A3A-C6B287CAA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3684D-6CE9-2416-ADDD-200A123A1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A6F39-7409-0949-A4AE-25C031959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6D289-0A95-57DA-ED5A-2FFE65002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5AEEB6-6069-45AB-0E27-EBB4BFE89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AA38DD-EE87-417A-6BF5-CB25316A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A9A5A6-8E26-532A-2366-C00E3782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338201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0AD7-65AC-E56B-1461-1EE1CAF0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BA9D2-A810-8CD6-568B-6A7AA7A0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CCC5B-4B7A-EAE2-F68A-1200966E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587BB-5CE2-71B4-53AC-AAD182C4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4439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86BDA-714B-AFB8-1C19-CA20066DB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8727A9-13E3-0CCC-AE86-9A61D2F7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283AE-372E-90FC-CD4F-B97F8B21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4351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B30CF-84D0-A991-00E0-CCF2DB3B5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390E-1C6C-3925-6AD1-6879E298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A9E9A-34EA-279E-8604-E55CD26B8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FC572-009C-8D8E-ECC3-1324EBCA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ADFF0-6CBF-62A0-9546-16721111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ED32A-4430-CDD7-3924-39C52131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1328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7BDA-9197-A873-918B-F52353EB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9613A-61FF-2A30-38E1-DED4332A1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60208-4CE5-B37B-789B-201D4D5E4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78A38-0B2B-5B93-33A0-6B935A115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DE08A-05EE-5D14-1562-CE1405DA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AE5D0-852D-2304-A5EF-6A79DF229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0844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CCCA-A524-D79C-C813-FA99C7409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86BA5-95FB-8201-33FF-01F982A88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06E0-E8C8-2559-FF1C-4C23173AC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658CE-55A6-11A6-D69A-51999E53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5910E-666F-6C21-CB80-D08D9F9C1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0390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7F6E7E-A9D3-C594-5391-776D05114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883F9-7F36-C27B-784B-0E7BA7582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52D9F-0C55-E3D7-7A14-AAEBFE2E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DAE7C-2FF4-27AF-0034-F3510608D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57C63-2D68-FCA1-E89A-F3ACCB15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6578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5B70FE-FDAD-7227-46BF-DAE664D7E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2D0AF-7533-0070-E2E2-BB9EF9530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A3D0-91C9-8C55-7873-B9899E6CFF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E4314B-9599-409F-999D-A0801E73C894}" type="datetimeFigureOut">
              <a:rPr lang="en-FI" smtClean="0"/>
              <a:t>4/8/24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5D96B-0531-6F87-47EA-2636C2504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278E-4B90-BAAD-2FB9-F5ADBC496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B155B-EFA2-4BDC-8234-BA5F71AAC9B4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1041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07343-11BA-5BE8-E4D9-98E1FF93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548" y="501651"/>
            <a:ext cx="5166966" cy="162452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3800" b="1" dirty="0">
                <a:solidFill>
                  <a:srgbClr val="C00000"/>
                </a:solidFill>
                <a:effectLst/>
              </a:rPr>
              <a:t>GLOBAL TRENDS IN ECONOMIC AND HEALTH INDICATORS </a:t>
            </a:r>
            <a:endParaRPr lang="en-US" sz="3800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9B81B2-588B-8F03-4FC1-C64874E1402E}"/>
              </a:ext>
            </a:extLst>
          </p:cNvPr>
          <p:cNvSpPr txBox="1">
            <a:spLocks/>
          </p:cNvSpPr>
          <p:nvPr/>
        </p:nvSpPr>
        <p:spPr>
          <a:xfrm>
            <a:off x="476413" y="3395355"/>
            <a:ext cx="5166966" cy="2529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algn="l">
              <a:lnSpc>
                <a:spcPct val="150000"/>
              </a:lnSpc>
              <a:spcBef>
                <a:spcPts val="0"/>
              </a:spcBef>
            </a:pPr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Members:</a:t>
            </a:r>
          </a:p>
          <a:p>
            <a:pPr lvl="1" indent="-2286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Dang Ngan</a:t>
            </a:r>
          </a:p>
          <a:p>
            <a:pPr lvl="1" indent="-2286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 Pirya</a:t>
            </a:r>
          </a:p>
          <a:p>
            <a:pPr lvl="1" indent="-2286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Joonas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Nivala</a:t>
            </a:r>
            <a:endPara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 indent="-2286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Nguyen Khang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C740D2F-3ECC-A5EE-0360-F242278C0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19" r="1789" b="-1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56DE-EDB6-6C1D-814F-2844BD222AB2}"/>
              </a:ext>
            </a:extLst>
          </p:cNvPr>
          <p:cNvSpPr txBox="1">
            <a:spLocks/>
          </p:cNvSpPr>
          <p:nvPr/>
        </p:nvSpPr>
        <p:spPr>
          <a:xfrm>
            <a:off x="724548" y="2399988"/>
            <a:ext cx="5166966" cy="1143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Beginner’s Python for Engineers </a:t>
            </a:r>
          </a:p>
          <a:p>
            <a:pPr algn="r">
              <a:lnSpc>
                <a:spcPct val="100000"/>
              </a:lnSpc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Project: Group 14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411218-A265-FC38-FC5A-2A190E868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4693"/>
            <a:ext cx="2546430" cy="9333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BD08A2-A4DB-BE6E-3C0B-670412140E4A}"/>
              </a:ext>
            </a:extLst>
          </p:cNvPr>
          <p:cNvSpPr txBox="1"/>
          <p:nvPr/>
        </p:nvSpPr>
        <p:spPr>
          <a:xfrm>
            <a:off x="384048" y="2286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32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E12A7-E6D8-FE60-F722-778FD3FFD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792" y="2263372"/>
            <a:ext cx="3481070" cy="3284606"/>
          </a:xfrm>
        </p:spPr>
        <p:txBody>
          <a:bodyPr anchor="t">
            <a:normAutofit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romanUcPeriod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  <a:p>
            <a:pPr marL="514350" indent="-514350">
              <a:lnSpc>
                <a:spcPct val="170000"/>
              </a:lnSpc>
              <a:buFont typeface="+mj-lt"/>
              <a:buAutoNum type="romanUcPeriod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Datasets</a:t>
            </a:r>
          </a:p>
          <a:p>
            <a:pPr marL="514350" indent="-514350">
              <a:lnSpc>
                <a:spcPct val="170000"/>
              </a:lnSpc>
              <a:buFont typeface="+mj-lt"/>
              <a:buAutoNum type="romanUcPeriod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Division</a:t>
            </a:r>
          </a:p>
          <a:p>
            <a:pPr marL="514350" indent="-514350">
              <a:lnSpc>
                <a:spcPct val="170000"/>
              </a:lnSpc>
              <a:buFont typeface="+mj-lt"/>
              <a:buAutoNum type="romanUcPeriod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Insights</a:t>
            </a:r>
          </a:p>
          <a:p>
            <a:pPr marL="514350" indent="-514350">
              <a:lnSpc>
                <a:spcPct val="170000"/>
              </a:lnSpc>
              <a:buFont typeface="+mj-lt"/>
              <a:buAutoNum type="romanUcPeriod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pic>
        <p:nvPicPr>
          <p:cNvPr id="1032" name="Picture 8" descr="A group of stick figures holding up blue signs&#10;&#10;Description automatically generated">
            <a:extLst>
              <a:ext uri="{FF2B5EF4-FFF2-40B4-BE49-F238E27FC236}">
                <a16:creationId xmlns:a16="http://schemas.microsoft.com/office/drawing/2014/main" id="{E2DA612D-E0B7-B47F-E15D-958DCC3DD7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9413"/>
          <a:stretch/>
        </p:blipFill>
        <p:spPr bwMode="auto">
          <a:xfrm>
            <a:off x="4987672" y="2260015"/>
            <a:ext cx="6389346" cy="328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74306B1-EA72-0D00-84F3-810D6E1AA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4693"/>
            <a:ext cx="2546430" cy="93330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458215-EB5F-F24C-5EF9-11ECFFC2FC2C}"/>
              </a:ext>
            </a:extLst>
          </p:cNvPr>
          <p:cNvSpPr/>
          <p:nvPr/>
        </p:nvSpPr>
        <p:spPr>
          <a:xfrm>
            <a:off x="3897451" y="390519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AGENDA</a:t>
            </a:r>
            <a:endParaRPr lang="en-US" sz="3600" b="1" dirty="0">
              <a:solidFill>
                <a:schemeClr val="tx1"/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82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A191A-74DE-8868-5BCD-397192BE7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939"/>
            <a:ext cx="10515600" cy="4309754"/>
          </a:xfrm>
        </p:spPr>
        <p:txBody>
          <a:bodyPr>
            <a:normAutofit lnSpcReduction="10000"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 project’s focus:</a:t>
            </a:r>
          </a:p>
          <a:p>
            <a:pPr marL="742950" lvl="1" indent="-285750">
              <a:lnSpc>
                <a:spcPct val="145000"/>
              </a:lnSpc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</a:t>
            </a:r>
            <a:r>
              <a:rPr lang="en-FI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lobal trends in economic and health indicators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from 2000 to 2015.</a:t>
            </a:r>
          </a:p>
          <a:p>
            <a:pPr marL="742950" lvl="1" indent="-285750">
              <a:lnSpc>
                <a:spcPct val="145000"/>
              </a:lnSpc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Variables: </a:t>
            </a:r>
            <a:r>
              <a:rPr lang="en-FI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GDP and healthcare expenditure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(as %</a:t>
            </a:r>
            <a:r>
              <a:rPr lang="en-FI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GDP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FI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FI"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life expectancy and adult mortality rates.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ct val="145000"/>
              </a:lnSpc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aim to answer the questions:</a:t>
            </a:r>
          </a:p>
          <a:p>
            <a:pPr marL="742950" lvl="1" indent="-285750">
              <a:lnSpc>
                <a:spcPct val="145000"/>
              </a:lnSpc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what extent do economic factors correlate with certain health indicators on a continental level?</a:t>
            </a:r>
          </a:p>
          <a:p>
            <a:pPr marL="742950" lvl="1" indent="-285750">
              <a:lnSpc>
                <a:spcPct val="145000"/>
              </a:lnSpc>
            </a:pP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How does a significant economic downturn, such as the global crisis in 2008, affect the health outcomes of continents?</a:t>
            </a:r>
            <a:endParaRPr lang="en-FI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260BB5-D218-FAEC-90BB-7D0B4040C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4693"/>
            <a:ext cx="2546430" cy="933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D35139D-83CB-8F8F-EC01-4165E3BC5294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18214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526CFD-54A0-F2B0-A4EB-DDA5949B2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4693"/>
            <a:ext cx="2546430" cy="933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8AC735A-DA8A-95B4-1EE7-D11EF0F9B494}"/>
              </a:ext>
            </a:extLst>
          </p:cNvPr>
          <p:cNvSpPr/>
          <p:nvPr/>
        </p:nvSpPr>
        <p:spPr>
          <a:xfrm>
            <a:off x="3897451" y="230789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DATASETS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D1D19A-CBBC-4E95-12A9-95852ED38C2A}"/>
              </a:ext>
            </a:extLst>
          </p:cNvPr>
          <p:cNvSpPr/>
          <p:nvPr/>
        </p:nvSpPr>
        <p:spPr>
          <a:xfrm>
            <a:off x="1078990" y="2671119"/>
            <a:ext cx="4397097" cy="325357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Usage objectives: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Gross Domestic Product (GDP) and the percentage of GDP allocated to healthcare across continents (2000 to 2015)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Targeted columns: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'Country Name', 'Year', 'GDP', 'Health Expenditure (% GDP)', 'Continent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3CBF7-AA47-1EDD-7981-BA45475E2E25}"/>
              </a:ext>
            </a:extLst>
          </p:cNvPr>
          <p:cNvSpPr/>
          <p:nvPr/>
        </p:nvSpPr>
        <p:spPr>
          <a:xfrm>
            <a:off x="1078991" y="1553838"/>
            <a:ext cx="4397097" cy="880612"/>
          </a:xfrm>
          <a:prstGeom prst="rect">
            <a:avLst/>
          </a:prstGeom>
          <a:solidFill>
            <a:schemeClr val="accent1">
              <a:alpha val="358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World Bank Data on Countries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(Base dataset)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BAB4A-ACDC-BFC6-7840-FD1289913D63}"/>
              </a:ext>
            </a:extLst>
          </p:cNvPr>
          <p:cNvSpPr/>
          <p:nvPr/>
        </p:nvSpPr>
        <p:spPr>
          <a:xfrm>
            <a:off x="6715912" y="1553838"/>
            <a:ext cx="4397097" cy="880612"/>
          </a:xfrm>
          <a:prstGeom prst="rect">
            <a:avLst/>
          </a:prstGeom>
          <a:solidFill>
            <a:schemeClr val="accent1">
              <a:alpha val="35854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202124"/>
                </a:solidFill>
                <a:effectLst/>
                <a:latin typeface="Helvetica" pitchFamily="2" charset="0"/>
              </a:rPr>
              <a:t>Health and Demographics Dataset</a:t>
            </a:r>
          </a:p>
          <a:p>
            <a:pPr algn="ctr"/>
            <a:r>
              <a:rPr lang="en-US" sz="2000" dirty="0">
                <a:solidFill>
                  <a:srgbClr val="202124"/>
                </a:solidFill>
                <a:effectLst/>
                <a:latin typeface="Helvetica" pitchFamily="2" charset="0"/>
              </a:rPr>
              <a:t>(Additional dataset)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AE440F-5034-B4C6-5F0D-0F2725A0527A}"/>
              </a:ext>
            </a:extLst>
          </p:cNvPr>
          <p:cNvSpPr/>
          <p:nvPr/>
        </p:nvSpPr>
        <p:spPr>
          <a:xfrm>
            <a:off x="6715911" y="2671119"/>
            <a:ext cx="4397097" cy="3253573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Usage objectives: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life expectancy and adult mortality rates across countries, organized by continent (2000 to 2015).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Targeted columns: </a:t>
            </a:r>
            <a:r>
              <a:rPr 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'Country', 'Year', 'Life expectancy', 'Adult Mortality’</a:t>
            </a:r>
          </a:p>
          <a:p>
            <a:pPr marL="342900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86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72" name="Arc 207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70" name="Freeform: Shape 206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2" name="Picture 4" descr="10 things my team members under 30 taught me - Reputation Today">
            <a:extLst>
              <a:ext uri="{FF2B5EF4-FFF2-40B4-BE49-F238E27FC236}">
                <a16:creationId xmlns:a16="http://schemas.microsoft.com/office/drawing/2014/main" id="{E22B6157-6098-A5E8-B3DF-BEE5BD9F9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8791" y="2344009"/>
            <a:ext cx="4777381" cy="278282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13CB9D-1F75-4939-1FCC-C333FA214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350195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20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</a:t>
            </a:r>
            <a:r>
              <a:rPr lang="en-US" sz="20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 and analyzing the base dataset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20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evi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</a:t>
            </a:r>
            <a:r>
              <a:rPr lang="en-US" sz="20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irya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  <a:r>
              <a:rPr lang="en-US" sz="20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leaning and analyzing the additional dataset</a:t>
            </a:r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</a:t>
            </a:r>
            <a:r>
              <a:rPr lang="en-US" sz="2000" b="1" cap="none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oonas</a:t>
            </a:r>
            <a:r>
              <a:rPr lang="en-US" sz="20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n-US" sz="2000" b="1" cap="none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ivala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v</a:t>
            </a:r>
            <a:r>
              <a:rPr lang="en-US" sz="20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isualization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en-US" sz="20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guyen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</a:t>
            </a:r>
            <a:r>
              <a:rPr lang="en-US" sz="2000" b="1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hang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 v</a:t>
            </a:r>
            <a:r>
              <a:rPr lang="en-US" sz="2000" cap="none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isualization</a:t>
            </a:r>
            <a:endParaRPr lang="en-FI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FB46B2-5725-A960-D0F1-EB055A2295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" y="5924693"/>
            <a:ext cx="2546430" cy="9333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BBEC8D-3CA2-1907-F0C9-A670C9FD9EB0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TASK DIVISION</a:t>
            </a:r>
          </a:p>
        </p:txBody>
      </p:sp>
    </p:spTree>
    <p:extLst>
      <p:ext uri="{BB962C8B-B14F-4D97-AF65-F5344CB8AC3E}">
        <p14:creationId xmlns:p14="http://schemas.microsoft.com/office/powerpoint/2010/main" val="111989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FB46B2-5725-A960-D0F1-EB055A229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33" y="5924693"/>
            <a:ext cx="2546430" cy="9333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BBEC8D-3CA2-1907-F0C9-A670C9FD9EB0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TASK DIVISION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4BA9DC2-0B2C-BB38-6234-F4245F449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298" y="1614937"/>
            <a:ext cx="10689404" cy="482605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Cleaning the datasets:</a:t>
            </a:r>
          </a:p>
          <a:p>
            <a:pPr lvl="1">
              <a:lnSpc>
                <a:spcPct val="125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Merge datasets for uniformity in characteristics (such as countries’ continent names).</a:t>
            </a:r>
          </a:p>
          <a:p>
            <a:pPr lvl="1">
              <a:lnSpc>
                <a:spcPct val="125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Make a copy merged file and work separately to ensure comprehension and precision.</a:t>
            </a:r>
          </a:p>
          <a:p>
            <a:pPr lvl="1">
              <a:lnSpc>
                <a:spcPct val="125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 countries by continent and year using </a:t>
            </a:r>
            <a:r>
              <a:rPr lang="en-US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‘</a:t>
            </a:r>
            <a:r>
              <a:rPr lang="en-US" sz="1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groupby</a:t>
            </a:r>
            <a:r>
              <a:rPr lang="en-US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()’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start basic calculations with </a:t>
            </a:r>
            <a:r>
              <a:rPr lang="en-US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‘</a:t>
            </a:r>
            <a:r>
              <a:rPr lang="en-US" sz="1800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agg</a:t>
            </a:r>
            <a:r>
              <a:rPr lang="en-US" sz="18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()’</a:t>
            </a: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lvl="1">
              <a:lnSpc>
                <a:spcPct val="125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Final merge includes key characteristics per continent over the period.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1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Data visualization:</a:t>
            </a:r>
          </a:p>
          <a:p>
            <a:pPr lvl="1">
              <a:lnSpc>
                <a:spcPct val="125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 graphs are used to visualize the chosen variables from 2000 to 2015 (time series).</a:t>
            </a:r>
          </a:p>
          <a:p>
            <a:pPr lvl="1">
              <a:lnSpc>
                <a:spcPct val="125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Using linear regressions to show correlations between economic factors and health indicators.</a:t>
            </a:r>
          </a:p>
          <a:p>
            <a:pPr lvl="1">
              <a:lnSpc>
                <a:spcPct val="125000"/>
              </a:lnSpc>
            </a:pPr>
            <a:r>
              <a:rPr lang="en-US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 plots (for comprehension purpose) and box plots are used to represent the confidence intervals of different variables in 2008.</a:t>
            </a:r>
          </a:p>
        </p:txBody>
      </p:sp>
    </p:spTree>
    <p:extLst>
      <p:ext uri="{BB962C8B-B14F-4D97-AF65-F5344CB8AC3E}">
        <p14:creationId xmlns:p14="http://schemas.microsoft.com/office/powerpoint/2010/main" val="92022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450" y="2282315"/>
            <a:ext cx="3748304" cy="3166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927" y="698850"/>
            <a:ext cx="3469323" cy="3166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926" y="3549825"/>
            <a:ext cx="3469323" cy="316693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7937954" y="1682788"/>
            <a:ext cx="3748304" cy="436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GDP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positively correlates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life expectancy: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Africa (0.98)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Oceania (0.78)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expenditure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fairly positively correlates 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life expectancy: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Europe (0.88)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Oceania (0.41)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7D986B-B11B-ED79-68A5-878FAFC354B8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57D986B-B11B-ED79-68A5-878FAFC354B8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INSIGHTS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CF52633-41A6-D3D5-2C84-C51D77D967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360548" y="1554201"/>
            <a:ext cx="3256573" cy="25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127;p6">
            <a:extLst>
              <a:ext uri="{FF2B5EF4-FFF2-40B4-BE49-F238E27FC236}">
                <a16:creationId xmlns:a16="http://schemas.microsoft.com/office/drawing/2014/main" id="{FADB1DE9-1B24-F3D5-0CF8-3780D0D614FF}"/>
              </a:ext>
            </a:extLst>
          </p:cNvPr>
          <p:cNvSpPr txBox="1"/>
          <p:nvPr/>
        </p:nvSpPr>
        <p:spPr>
          <a:xfrm>
            <a:off x="7937954" y="1682789"/>
            <a:ext cx="3748304" cy="3877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GDP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positively correlates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life expectancy: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Africa (0.98)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Oceania (0.78)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expenditure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fairly positively correlates 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with life expectancy: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Europe (0.88)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Oceania (0.41)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177C175-9F03-D133-92ED-22EBAE7D31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4013573" y="1554201"/>
            <a:ext cx="3252273" cy="25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2D53AD1-53E9-CC5A-9C51-305C90FF6E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3961024" y="4208520"/>
            <a:ext cx="3252272" cy="25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51B479BE-9854-D4D7-87A5-5C1CD74C13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272851" y="4179373"/>
            <a:ext cx="3252274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457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g1f54aa0acb1_5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451" y="2337153"/>
            <a:ext cx="3645899" cy="3057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1f54aa0acb1_5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27" y="532754"/>
            <a:ext cx="3368627" cy="3057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1f54aa0acb1_5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26" y="3383729"/>
            <a:ext cx="3368627" cy="305725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C7B2BC-2548-BFB1-EC6A-B1430989C265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INSIGHTS</a:t>
            </a:r>
          </a:p>
        </p:txBody>
      </p:sp>
      <p:sp>
        <p:nvSpPr>
          <p:cNvPr id="5" name="Google Shape;127;p6">
            <a:extLst>
              <a:ext uri="{FF2B5EF4-FFF2-40B4-BE49-F238E27FC236}">
                <a16:creationId xmlns:a16="http://schemas.microsoft.com/office/drawing/2014/main" id="{B2CA291B-1748-5AFB-691B-4BA82E11B285}"/>
              </a:ext>
            </a:extLst>
          </p:cNvPr>
          <p:cNvSpPr txBox="1"/>
          <p:nvPr/>
        </p:nvSpPr>
        <p:spPr>
          <a:xfrm>
            <a:off x="7767347" y="1682787"/>
            <a:ext cx="4397098" cy="436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GDP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fairly correlates negatively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adult mortality, weakening at higher GDP levels.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Europe (-0.68)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North America (-0.14)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expenditure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slightly correlates negatively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adult mortality.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Europe (-0.63)</a:t>
            </a:r>
            <a:b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North America (-0.09)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lang="en-US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C7B2BC-2548-BFB1-EC6A-B1430989C265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INSIGHTS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AAEB015-CE2D-558D-AB32-ACD325F06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505743" y="1583201"/>
            <a:ext cx="3274345" cy="258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E0C5A3C-0591-E50D-CDDB-34CBD3E91E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4248423" y="1583200"/>
            <a:ext cx="3271105" cy="258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5DFD5EC3-16AE-C94C-96D4-C20579C6B3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 bwMode="auto">
          <a:xfrm>
            <a:off x="505742" y="4175602"/>
            <a:ext cx="3274345" cy="258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28381B35-F048-8813-6604-125E31EA41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9"/>
          <a:stretch/>
        </p:blipFill>
        <p:spPr bwMode="auto">
          <a:xfrm>
            <a:off x="4285668" y="4175602"/>
            <a:ext cx="3233860" cy="258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27;p6">
            <a:extLst>
              <a:ext uri="{FF2B5EF4-FFF2-40B4-BE49-F238E27FC236}">
                <a16:creationId xmlns:a16="http://schemas.microsoft.com/office/drawing/2014/main" id="{9C949558-AD63-4744-87B7-EBC6ADE7B9CA}"/>
              </a:ext>
            </a:extLst>
          </p:cNvPr>
          <p:cNvSpPr txBox="1"/>
          <p:nvPr/>
        </p:nvSpPr>
        <p:spPr>
          <a:xfrm>
            <a:off x="7767347" y="1682787"/>
            <a:ext cx="4397098" cy="4365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GDP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fairly correlates negatively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adult mortality, weakening at higher GDP levels.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Europe (-0.68)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North America (-0.14)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expenditure </a:t>
            </a:r>
            <a:r>
              <a:rPr lang="en-US" b="1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slightly correlates negatively</a:t>
            </a: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adult mortality.</a:t>
            </a:r>
          </a:p>
          <a:p>
            <a:pPr marL="914400" lvl="1" indent="-311150">
              <a:lnSpc>
                <a:spcPct val="150000"/>
              </a:lnSpc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Strongest: Europe (-0.63)</a:t>
            </a:r>
            <a:b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Weakest: North America (-0.09)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lang="en-US"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1f54aa0acb1_5_21"/>
          <p:cNvPicPr preferRelativeResize="0"/>
          <p:nvPr/>
        </p:nvPicPr>
        <p:blipFill rotWithShape="1">
          <a:blip r:embed="rId3">
            <a:alphaModFix/>
          </a:blip>
          <a:srcRect l="50226" b="7978"/>
          <a:stretch/>
        </p:blipFill>
        <p:spPr>
          <a:xfrm>
            <a:off x="6096000" y="3429000"/>
            <a:ext cx="5450276" cy="316858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1f54aa0acb1_5_21"/>
          <p:cNvSpPr txBox="1"/>
          <p:nvPr/>
        </p:nvSpPr>
        <p:spPr>
          <a:xfrm>
            <a:off x="1269122" y="1626254"/>
            <a:ext cx="9653758" cy="2667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clear trends in life expectancy and adult mortality, except for stability.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GDPs’ confidence interval generally decreased, with North America and Asia as outliers.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Despite the global crisis, GDP maintained an upward trajectory.</a:t>
            </a:r>
            <a:endParaRPr dirty="0">
              <a:solidFill>
                <a:schemeClr val="dk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335A53-C310-A7AB-618A-727D71F91C2E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INSIGHTS</a:t>
            </a:r>
          </a:p>
        </p:txBody>
      </p:sp>
      <p:pic>
        <p:nvPicPr>
          <p:cNvPr id="2" name="Google Shape;142;g1f54aa0acb1_5_21">
            <a:extLst>
              <a:ext uri="{FF2B5EF4-FFF2-40B4-BE49-F238E27FC236}">
                <a16:creationId xmlns:a16="http://schemas.microsoft.com/office/drawing/2014/main" id="{B81B5F33-7B2F-2D1F-D010-70D935DD48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50052" b="7655"/>
          <a:stretch/>
        </p:blipFill>
        <p:spPr>
          <a:xfrm>
            <a:off x="645724" y="3429000"/>
            <a:ext cx="5450276" cy="3168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F34B4ED2-97C5-9712-4531-0075AAC82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100" y="36911"/>
            <a:ext cx="9841797" cy="3392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208CB0C-C3E1-0D95-ADF5-E6F650B46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101" y="3203208"/>
            <a:ext cx="9841796" cy="365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096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35A53-C310-A7AB-618A-727D71F91C2E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C4FF30-34D2-AD36-7B16-7B998952F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938"/>
            <a:ext cx="10515600" cy="4826050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19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GDP exhibits a clear positive correlation with health indicators, while health expenditure shows inconsistency in predicting the health conditions of a continent.</a:t>
            </a: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 expenditure may not directly translate to better health, other socioeconomic factors…</a:t>
            </a:r>
          </a:p>
          <a:p>
            <a:pPr marL="457200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19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Higher mean GDP and health expenditure on continents generally correlate with higher life expectancy and lower adult mortality.</a:t>
            </a:r>
          </a:p>
          <a:p>
            <a:pPr marL="457200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1900" dirty="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correlations of both economic variables are more pronounced in life expectancy than in adult mortality.</a:t>
            </a: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Quality of healthcare and living standards directly impact life expectancy.</a:t>
            </a: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Various non-economic factors influence adult mortality, such as road safety and crime rates.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DA110-B4BE-E62C-BE14-64ECBE119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5990007"/>
            <a:ext cx="2546430" cy="9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1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35A53-C310-A7AB-618A-727D71F91C2E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C4FF30-34D2-AD36-7B16-7B998952F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938"/>
            <a:ext cx="10515600" cy="4826050"/>
          </a:xfrm>
          <a:noFill/>
        </p:spPr>
        <p:txBody>
          <a:bodyPr>
            <a:normAutofit/>
          </a:bodyPr>
          <a:lstStyle/>
          <a:p>
            <a:pPr marL="457200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1900" dirty="0">
                <a:highlight>
                  <a:srgbClr val="00FFFF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assess the health status of a continent from 2000 to 2015, mean GDP proves to be a more reliable indicator compared to health expenditure, with the exception of Oceania.</a:t>
            </a: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Indirect improvement of living standards</a:t>
            </a: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Difference in healthcare systems’ effectiveness</a:t>
            </a: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 factors: environment, socioeconomic factors…</a:t>
            </a:r>
          </a:p>
          <a:p>
            <a:pPr marL="457200" indent="-457200">
              <a:lnSpc>
                <a:spcPct val="125000"/>
              </a:lnSpc>
              <a:buFont typeface="+mj-lt"/>
              <a:buAutoNum type="arabicPeriod"/>
            </a:pPr>
            <a:r>
              <a:rPr lang="en-US" sz="1900" dirty="0">
                <a:highlight>
                  <a:srgbClr val="00FFFF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During an economic downturn, assessing the impact of certain economic factors on continental health using long-term health indicators might not be suitable.</a:t>
            </a:r>
            <a:endParaRPr lang="en-US" sz="19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Long-term indicators may not capture rapid changes or short-term fluctuations accurately.</a:t>
            </a:r>
          </a:p>
          <a:p>
            <a:pPr lvl="1">
              <a:lnSpc>
                <a:spcPct val="12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Resilience of healthcare systems, public health interventions, and social safety nets during crises…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3DA110-B4BE-E62C-BE14-64ECBE119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5990007"/>
            <a:ext cx="2546430" cy="93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19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335A53-C310-A7AB-618A-727D71F91C2E}"/>
              </a:ext>
            </a:extLst>
          </p:cNvPr>
          <p:cNvSpPr/>
          <p:nvPr/>
        </p:nvSpPr>
        <p:spPr>
          <a:xfrm>
            <a:off x="3897451" y="417013"/>
            <a:ext cx="4397098" cy="922860"/>
          </a:xfrm>
          <a:prstGeom prst="rect">
            <a:avLst/>
          </a:prstGeom>
          <a:solidFill>
            <a:schemeClr val="accent2">
              <a:lumMod val="75000"/>
              <a:alpha val="1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RECOMMENDATION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2C4FF30-34D2-AD36-7B16-7B998952F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0"/>
            <a:ext cx="5257800" cy="339793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45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a comprehensive understanding of the impact of economic conditions on health indicators, short-term health indicators may provide valuable insights. </a:t>
            </a:r>
          </a:p>
          <a:p>
            <a:pPr marL="742950" lvl="1" indent="-285750">
              <a:lnSpc>
                <a:spcPct val="145000"/>
              </a:lnSpc>
            </a:pPr>
            <a:r>
              <a:rPr lang="en-US" sz="1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 examples: healthcare utilization rates, disease prevalence trends, vaccination coverage rates, and more.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3E9BA-AB66-7FF0-D890-B7B5029D6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300" y="5990007"/>
            <a:ext cx="2546430" cy="933307"/>
          </a:xfrm>
          <a:prstGeom prst="rect">
            <a:avLst/>
          </a:prstGeom>
        </p:spPr>
      </p:pic>
      <p:pic>
        <p:nvPicPr>
          <p:cNvPr id="1026" name="Picture 2" descr="The entire health care sector needs to battle climate change - STAT">
            <a:extLst>
              <a:ext uri="{FF2B5EF4-FFF2-40B4-BE49-F238E27FC236}">
                <a16:creationId xmlns:a16="http://schemas.microsoft.com/office/drawing/2014/main" id="{D252BE3C-1D7C-CB5A-70D0-F1EE784F6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99" y="2055810"/>
            <a:ext cx="3398699" cy="339869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882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C01C-D880-7531-9753-28FA1643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03A28-0C44-A7DC-F67B-7288DA2D0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Listening a Little More – How to be Smarter Sooner">
            <a:extLst>
              <a:ext uri="{FF2B5EF4-FFF2-40B4-BE49-F238E27FC236}">
                <a16:creationId xmlns:a16="http://schemas.microsoft.com/office/drawing/2014/main" id="{6747AE40-E550-0115-E3C1-51C408B1A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478" y="943930"/>
            <a:ext cx="8235043" cy="497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3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832</Words>
  <Application>Microsoft Macintosh PowerPoint</Application>
  <PresentationFormat>Widescreen</PresentationFormat>
  <Paragraphs>93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Helvetica</vt:lpstr>
      <vt:lpstr>Tahoma</vt:lpstr>
      <vt:lpstr>Office Theme</vt:lpstr>
      <vt:lpstr>GLOBAL TRENDS IN ECONOMIC AND HEALTH INDICATORS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trends in economic and health indicators </dc:title>
  <dc:creator>Pirya lohana</dc:creator>
  <cp:lastModifiedBy>Dang Vu Tuyet Ngan</cp:lastModifiedBy>
  <cp:revision>8</cp:revision>
  <dcterms:created xsi:type="dcterms:W3CDTF">2024-04-07T13:54:02Z</dcterms:created>
  <dcterms:modified xsi:type="dcterms:W3CDTF">2024-04-09T00:44:07Z</dcterms:modified>
</cp:coreProperties>
</file>